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143000"/>
            <a:ext cx="823874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0_agent_basic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533400" y="186690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057400"/>
            <a:ext cx="8238744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从零打造一个 AI 智能体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33400" y="2647950"/>
            <a:ext cx="8238744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s0 → s7 · 造得出来,才算真懂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3400" y="323850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WHAT I CAN'T CREATE, I DON'T UNDERSTAND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《AI智能体在心理与教育的应用》· 北京师范大学心理学部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· 从「会聊天」到「会干活」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= LLM + Harness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8669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大脑:会理解、会决策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语言模型负责「想」——但它本身只能输出文字,说得再好也做不了事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8669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身体:循环·记忆·工具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一圈代码把 LLM 接上现实:能连续听、记得住、动得了手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8669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本模块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八步亲手造出来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s0 → s7,每步只加几行代码,长成一个会倾听、会写评语的心理/教育 agent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8481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你已经指挥过 Claude Code 干活;这个模块,你亲手造出它内核的最小版本。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0_agent_basic · 从零打造一个 AI 智能体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主线 · S0 → S7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八个阶段,每步只加一个想法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19250"/>
            <a:ext cx="94297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3970" y="1752600"/>
            <a:ext cx="961834" cy="2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s0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62832" y="2114550"/>
            <a:ext cx="884110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8"/>
              </a:lnSpc>
              <a:buNone/>
            </a:pPr>
            <a:r>
              <a:rPr lang="en-US" sz="8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一次调用</a:t>
            </a:r>
            <a:endParaRPr lang="en-US" sz="863" dirty="0"/>
          </a:p>
        </p:txBody>
      </p:sp>
      <p:sp>
        <p:nvSpPr>
          <p:cNvPr id="8" name="Text 6"/>
          <p:cNvSpPr/>
          <p:nvPr/>
        </p:nvSpPr>
        <p:spPr>
          <a:xfrm>
            <a:off x="1552575" y="1619250"/>
            <a:ext cx="94297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43145" y="1752600"/>
            <a:ext cx="961834" cy="2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582007" y="2114550"/>
            <a:ext cx="884110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8"/>
              </a:lnSpc>
              <a:buNone/>
            </a:pPr>
            <a:r>
              <a:rPr lang="en-US" sz="8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多轮对话</a:t>
            </a:r>
            <a:endParaRPr lang="en-US" sz="863" dirty="0"/>
          </a:p>
        </p:txBody>
      </p:sp>
      <p:sp>
        <p:nvSpPr>
          <p:cNvPr id="11" name="Text 9"/>
          <p:cNvSpPr/>
          <p:nvPr/>
        </p:nvSpPr>
        <p:spPr>
          <a:xfrm>
            <a:off x="2571750" y="1619250"/>
            <a:ext cx="94297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562320" y="1752600"/>
            <a:ext cx="961834" cy="2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601182" y="2114550"/>
            <a:ext cx="884110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8"/>
              </a:lnSpc>
              <a:buNone/>
            </a:pPr>
            <a:r>
              <a:rPr lang="en-US" sz="8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对话记忆</a:t>
            </a:r>
            <a:endParaRPr lang="en-US" sz="863" dirty="0"/>
          </a:p>
        </p:txBody>
      </p:sp>
      <p:sp>
        <p:nvSpPr>
          <p:cNvPr id="14" name="Text 12"/>
          <p:cNvSpPr/>
          <p:nvPr/>
        </p:nvSpPr>
        <p:spPr>
          <a:xfrm>
            <a:off x="3590925" y="1619250"/>
            <a:ext cx="942975" cy="914400"/>
          </a:xfrm>
          <a:prstGeom prst="rect">
            <a:avLst/>
          </a:prstGeom>
          <a:solidFill>
            <a:srgbClr val="FBF1EC"/>
          </a:solidFill>
          <a:ln w="19050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81495" y="1752600"/>
            <a:ext cx="961834" cy="2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620357" y="2114550"/>
            <a:ext cx="884110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8"/>
              </a:lnSpc>
              <a:buNone/>
            </a:pPr>
            <a:r>
              <a:rPr lang="en-US" sz="8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核心</a:t>
            </a:r>
            <a:endParaRPr lang="en-US" sz="863" dirty="0"/>
          </a:p>
        </p:txBody>
      </p:sp>
      <p:sp>
        <p:nvSpPr>
          <p:cNvPr id="17" name="Text 15"/>
          <p:cNvSpPr/>
          <p:nvPr/>
        </p:nvSpPr>
        <p:spPr>
          <a:xfrm>
            <a:off x="4610100" y="1619250"/>
            <a:ext cx="94297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00670" y="1752600"/>
            <a:ext cx="961834" cy="2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s4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639532" y="2114550"/>
            <a:ext cx="884110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8"/>
              </a:lnSpc>
              <a:buNone/>
            </a:pPr>
            <a:r>
              <a:rPr lang="en-US" sz="8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提示词分离</a:t>
            </a:r>
            <a:endParaRPr lang="en-US" sz="863" dirty="0"/>
          </a:p>
        </p:txBody>
      </p:sp>
      <p:sp>
        <p:nvSpPr>
          <p:cNvPr id="20" name="Text 18"/>
          <p:cNvSpPr/>
          <p:nvPr/>
        </p:nvSpPr>
        <p:spPr>
          <a:xfrm>
            <a:off x="5629275" y="1619250"/>
            <a:ext cx="94297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619845" y="1752600"/>
            <a:ext cx="961834" cy="2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s5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658707" y="2114550"/>
            <a:ext cx="884110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8"/>
              </a:lnSpc>
              <a:buNone/>
            </a:pPr>
            <a:r>
              <a:rPr lang="en-US" sz="8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可插拔技能</a:t>
            </a:r>
            <a:endParaRPr lang="en-US" sz="863" dirty="0"/>
          </a:p>
        </p:txBody>
      </p:sp>
      <p:sp>
        <p:nvSpPr>
          <p:cNvPr id="23" name="Text 21"/>
          <p:cNvSpPr/>
          <p:nvPr/>
        </p:nvSpPr>
        <p:spPr>
          <a:xfrm>
            <a:off x="6648450" y="1619250"/>
            <a:ext cx="94297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39020" y="1752600"/>
            <a:ext cx="961834" cy="2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s6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677882" y="2114550"/>
            <a:ext cx="884110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8"/>
              </a:lnSpc>
              <a:buNone/>
            </a:pPr>
            <a:r>
              <a:rPr lang="en-US" sz="8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领域 Agent</a:t>
            </a:r>
            <a:endParaRPr lang="en-US" sz="863" dirty="0"/>
          </a:p>
        </p:txBody>
      </p:sp>
      <p:sp>
        <p:nvSpPr>
          <p:cNvPr id="26" name="Text 24"/>
          <p:cNvSpPr/>
          <p:nvPr/>
        </p:nvSpPr>
        <p:spPr>
          <a:xfrm>
            <a:off x="7667625" y="1619250"/>
            <a:ext cx="94297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658195" y="1752600"/>
            <a:ext cx="961834" cy="2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s7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697057" y="2114550"/>
            <a:ext cx="884110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78"/>
              </a:lnSpc>
              <a:buNone/>
            </a:pPr>
            <a:r>
              <a:rPr lang="en-US" sz="8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多技能协同</a:t>
            </a:r>
            <a:endParaRPr lang="en-US" sz="863" dirty="0"/>
          </a:p>
        </p:txBody>
      </p:sp>
      <p:sp>
        <p:nvSpPr>
          <p:cNvPr id="29" name="Text 27"/>
          <p:cNvSpPr/>
          <p:nvPr/>
        </p:nvSpPr>
        <p:spPr>
          <a:xfrm>
            <a:off x="533400" y="2762250"/>
            <a:ext cx="2609850" cy="60960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66750" y="2876550"/>
            <a:ext cx="2390013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s0–s2 · 理解 LLM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666750" y="3086100"/>
            <a:ext cx="2390013" cy="14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它只会预测下一句,记忆全靠我们端给它</a:t>
            </a:r>
            <a:endParaRPr lang="en-US" sz="863" dirty="0"/>
          </a:p>
        </p:txBody>
      </p:sp>
      <p:sp>
        <p:nvSpPr>
          <p:cNvPr id="32" name="Text 30"/>
          <p:cNvSpPr/>
          <p:nvPr/>
        </p:nvSpPr>
        <p:spPr>
          <a:xfrm>
            <a:off x="3257550" y="2762250"/>
            <a:ext cx="2609850" cy="60960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390900" y="2876550"/>
            <a:ext cx="2390013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s3–s4 · 装上手和规则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3390900" y="3086100"/>
            <a:ext cx="2390013" cy="14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从聊天变成会干活的 agent</a:t>
            </a:r>
            <a:endParaRPr lang="en-US" sz="863" dirty="0"/>
          </a:p>
        </p:txBody>
      </p:sp>
      <p:sp>
        <p:nvSpPr>
          <p:cNvPr id="35" name="Text 33"/>
          <p:cNvSpPr/>
          <p:nvPr/>
        </p:nvSpPr>
        <p:spPr>
          <a:xfrm>
            <a:off x="5981700" y="2762250"/>
            <a:ext cx="2609850" cy="60960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115050" y="2876550"/>
            <a:ext cx="2390013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s5–s7 · 注入专业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6115050" y="3086100"/>
            <a:ext cx="2390013" cy="14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技能文件把「心理咨询」变成能力</a:t>
            </a:r>
            <a:endParaRPr lang="en-US" sz="863" dirty="0"/>
          </a:p>
        </p:txBody>
      </p:sp>
      <p:sp>
        <p:nvSpPr>
          <p:cNvPr id="38" name="Text 36"/>
          <p:cNvSpPr/>
          <p:nvPr/>
        </p:nvSpPr>
        <p:spPr>
          <a:xfrm>
            <a:off x="533400" y="36576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s3 是分水岭:在它之前,agent 只会「说」;从它开始,agent 会「做」。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0_agent_basic · 从零打造一个 AI 智能体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S0 · 一次调用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和 AI 说一句、收一句,这就是一切的起点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49149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1847850"/>
            <a:ext cx="456628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关键代码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209550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client.chat.send(model=...,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742950" y="2295525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messages=[{"role":"user","content":"你好"}])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742950" y="2609850"/>
            <a:ext cx="4457700" cy="48756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发一条 user 消息,打印一条回复,程序结束</a:t>
            </a:r>
            <a:endParaRPr lang="en-US" sz="1013" dirty="0"/>
          </a:p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messages 列表——之后一切都长在它上面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5600700" y="1695450"/>
            <a:ext cx="3009900" cy="104775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53100" y="182880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🔗 产品对照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53100" y="205740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你在网页上问一句 ChatGPT、它答一句——本质就是这段代码。</a:t>
            </a:r>
            <a:endParaRPr lang="en-US" sz="938" dirty="0"/>
          </a:p>
        </p:txBody>
      </p:sp>
      <p:sp>
        <p:nvSpPr>
          <p:cNvPr id="14" name="Text 12"/>
          <p:cNvSpPr/>
          <p:nvPr/>
        </p:nvSpPr>
        <p:spPr>
          <a:xfrm>
            <a:off x="5600700" y="2857500"/>
            <a:ext cx="3009900" cy="1047750"/>
          </a:xfrm>
          <a:prstGeom prst="rect">
            <a:avLst/>
          </a:prstGeom>
          <a:solidFill>
            <a:srgbClr val="F6F4E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53100" y="299085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🧠 认知对照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53100" y="321945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像膝跳反射:给刺激出反应,做完就忘——一次性的反射。</a:t>
            </a:r>
            <a:endParaRPr lang="en-US" sz="938" dirty="0"/>
          </a:p>
        </p:txBody>
      </p:sp>
      <p:sp>
        <p:nvSpPr>
          <p:cNvPr id="17" name="Text 15"/>
          <p:cNvSpPr/>
          <p:nvPr/>
        </p:nvSpPr>
        <p:spPr>
          <a:xfrm>
            <a:off x="533400" y="411480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思考题:s0 只能问一次。想让它「接着聊」,要加什么?(→ s1)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0_agent_basic · 从零打造一个 AI 智能体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S1 · 多轮对话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能连续聊,但记不住任何事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49149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1847850"/>
            <a:ext cx="456628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关键代码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209550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while True: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742950" y="2295525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user_input = input("\n你：")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742950" y="2609850"/>
            <a:ext cx="4457700" cy="48756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「我压力很大 → 那我该怎么办?」——「那」指什么,它不知道</a:t>
            </a:r>
            <a:endParaRPr lang="en-US" sz="1013" dirty="0"/>
          </a:p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每次只把当前这句发给 AI;辅导/咨询里这是致命的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5600700" y="1695450"/>
            <a:ext cx="3009900" cy="104775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53100" y="182880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🔗 产品对照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53100" y="205740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ChatGPT 网页版的多轮框——但不带历史,就是这个「健忘版」。</a:t>
            </a:r>
            <a:endParaRPr lang="en-US" sz="938" dirty="0"/>
          </a:p>
        </p:txBody>
      </p:sp>
      <p:sp>
        <p:nvSpPr>
          <p:cNvPr id="14" name="Text 12"/>
          <p:cNvSpPr/>
          <p:nvPr/>
        </p:nvSpPr>
        <p:spPr>
          <a:xfrm>
            <a:off x="5600700" y="2857500"/>
            <a:ext cx="3009900" cy="1047750"/>
          </a:xfrm>
          <a:prstGeom prst="rect">
            <a:avLst/>
          </a:prstGeom>
          <a:solidFill>
            <a:srgbClr val="F6F4E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53100" y="299085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🧠 认知对照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53100" y="321945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跟一个每句话说完就失忆的人聊天——健忘的对话者。</a:t>
            </a:r>
            <a:endParaRPr lang="en-US" sz="938" dirty="0"/>
          </a:p>
        </p:txBody>
      </p:sp>
      <p:sp>
        <p:nvSpPr>
          <p:cNvPr id="17" name="Text 15"/>
          <p:cNvSpPr/>
          <p:nvPr/>
        </p:nvSpPr>
        <p:spPr>
          <a:xfrm>
            <a:off x="533400" y="411480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思考题:s1 每次发给 AI 的,是「全部历史」还是「就这一句」?(对比 s2)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0_agent_basic · 从零打造一个 AI 智能体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S2 · 对话记忆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ChatGPT「记住上文」的机制,就这 3 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49149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1847850"/>
            <a:ext cx="456628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关键代码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209550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messages = []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742950" y="2295525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messages.append({"role":"user", ...})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742950" y="249555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messages.append({"role":"assistant", ...})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742950" y="2809875"/>
            <a:ext cx="4457700" cy="48756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每次把全部历史一起发过去,AI 就「记住」了</a:t>
            </a:r>
            <a:endParaRPr lang="en-US" sz="1013" dirty="0"/>
          </a:p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聊了几轮再问「结合我一开始说的给点建议」,它还记得日记细节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600700" y="1695450"/>
            <a:ext cx="3009900" cy="104775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53100" y="182880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🔗 产品对照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53100" y="205740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ChatGPT 记住上文,靠的就是每次把之前对话一起发过去。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5600700" y="2857500"/>
            <a:ext cx="3009900" cy="1047750"/>
          </a:xfrm>
          <a:prstGeom prst="rect">
            <a:avLst/>
          </a:prstGeom>
          <a:solidFill>
            <a:srgbClr val="F6F4E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53100" y="299085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🧠 认知对照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53100" y="321945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工作记忆——把说过的话「端在手上」,才能接着想。</a:t>
            </a:r>
            <a:endParaRPr lang="en-US" sz="938" dirty="0"/>
          </a:p>
        </p:txBody>
      </p:sp>
      <p:sp>
        <p:nvSpPr>
          <p:cNvPr id="18" name="Text 16"/>
          <p:cNvSpPr/>
          <p:nvPr/>
        </p:nvSpPr>
        <p:spPr>
          <a:xfrm>
            <a:off x="533400" y="411480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思考题:删掉「记录 AI 回复」那一次 append,会怎样?试试再跑。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0_agent_basic · 从零打造一个 AI 智能体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S3 · AGENT 核心 —— 分水岭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从「只会说」到「会动手」:双层循环 + 执行命令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4914900" cy="220980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1847850"/>
            <a:ext cx="456628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关键代码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209550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while True:            # 外层:等用户任务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742950" y="2295525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while True:        # 内层:自主执行到「完成:」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742950" y="249555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result = os.popen(command).read()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742950" y="2809875"/>
            <a:ext cx="4457700" cy="69324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「读作文目录,告诉我哪篇更需要修改」——它自己 ls → 逐篇 cat → 比较,连跑好几轮</a:t>
            </a:r>
            <a:endParaRPr lang="en-US" sz="1013" dirty="0"/>
          </a:p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聊天机器人做不到:感知 → 决策 → 行动 → 再感知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600700" y="1695450"/>
            <a:ext cx="3009900" cy="104775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53100" y="182880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🔗 产品对照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53100" y="2057400"/>
            <a:ext cx="277863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你指挥过的 Claude Code,内核就是这个双层循环。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5600700" y="2857500"/>
            <a:ext cx="3009900" cy="1047750"/>
          </a:xfrm>
          <a:prstGeom prst="rect">
            <a:avLst/>
          </a:prstGeom>
          <a:solidFill>
            <a:srgbClr val="F6F4E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53100" y="299085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🧠 认知对照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53100" y="321945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从「想」到「做」——第一次能行动:感知→决策→行动→再感知。</a:t>
            </a:r>
            <a:endParaRPr lang="en-US" sz="938" dirty="0"/>
          </a:p>
        </p:txBody>
      </p:sp>
      <p:sp>
        <p:nvSpPr>
          <p:cNvPr id="18" name="Text 16"/>
          <p:cNvSpPr/>
          <p:nvPr/>
        </p:nvSpPr>
        <p:spPr>
          <a:xfrm>
            <a:off x="533400" y="411480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思考题:内层循环不等你输入、自己往前跑,它靠什么判断「做完了」?(看「完成:」)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0_agent_basic · 从零打造一个 AI 智能体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S4 · 提示词分离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改行为,不用改代码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49149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1847850"/>
            <a:ext cx="456628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关键代码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209550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messages = [{"role":"system",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742950" y="2295525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"content": open("agent.md").read()}]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742950" y="2609850"/>
            <a:ext cx="4457700" cy="48756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写死的规则搬进 agent.md</a:t>
            </a:r>
            <a:endParaRPr lang="en-US" sz="1013" dirty="0"/>
          </a:p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加一句「执行前先说『收到』」重跑——一行 Python 没动,行为就变了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5600700" y="1695450"/>
            <a:ext cx="3009900" cy="104775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53100" y="182880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🔗 产品对照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53100" y="205740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ChatGPT 的「自定义指令」、各家产品的 system prompt。</a:t>
            </a:r>
            <a:endParaRPr lang="en-US" sz="938" dirty="0"/>
          </a:p>
        </p:txBody>
      </p:sp>
      <p:sp>
        <p:nvSpPr>
          <p:cNvPr id="14" name="Text 12"/>
          <p:cNvSpPr/>
          <p:nvPr/>
        </p:nvSpPr>
        <p:spPr>
          <a:xfrm>
            <a:off x="5600700" y="2857500"/>
            <a:ext cx="3009900" cy="1047750"/>
          </a:xfrm>
          <a:prstGeom prst="rect">
            <a:avLst/>
          </a:prstGeom>
          <a:solidFill>
            <a:srgbClr val="F6F4E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53100" y="299085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🧠 认知对照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53100" y="321945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指令与执行分离——换「岗位说明书」就换做法,不用换人。</a:t>
            </a:r>
            <a:endParaRPr lang="en-US" sz="938" dirty="0"/>
          </a:p>
        </p:txBody>
      </p:sp>
      <p:sp>
        <p:nvSpPr>
          <p:cNvPr id="17" name="Text 15"/>
          <p:cNvSpPr/>
          <p:nvPr/>
        </p:nvSpPr>
        <p:spPr>
          <a:xfrm>
            <a:off x="533400" y="411480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思考题:想给 AI 加一整套「专业知识」,该怎么做?(→ s5)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0_agent_basic · 从零打造一个 AI 智能体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 · 可插拔技能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换技能 = 换专家:GPTs 的本质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49149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1847850"/>
            <a:ext cx="456628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关键代码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209550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prompt = open("agent.md").read() \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742950" y="2295525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 open("skill.md").read()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742950" y="2609850"/>
            <a:ext cx="4457700" cy="48756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agent.md 管「怎么做」,skill.md 管「做什么领域」</a:t>
            </a:r>
            <a:endParaRPr lang="en-US" sz="1013" dirty="0"/>
          </a:p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换成 skill_feedback.md:按「3 优点 + 1 改进 + 鼓励」评作文,从泛泛变专家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5600700" y="1695450"/>
            <a:ext cx="3009900" cy="104775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53100" y="182880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🔗 产品对照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53100" y="205740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你在 ChatGPT 里建的 GPTs / 自定义 GPT,本质就是这一行拼接。</a:t>
            </a:r>
            <a:endParaRPr lang="en-US" sz="938" dirty="0"/>
          </a:p>
        </p:txBody>
      </p:sp>
      <p:sp>
        <p:nvSpPr>
          <p:cNvPr id="14" name="Text 12"/>
          <p:cNvSpPr/>
          <p:nvPr/>
        </p:nvSpPr>
        <p:spPr>
          <a:xfrm>
            <a:off x="5600700" y="2857500"/>
            <a:ext cx="3009900" cy="1047750"/>
          </a:xfrm>
          <a:prstGeom prst="rect">
            <a:avLst/>
          </a:prstGeom>
          <a:solidFill>
            <a:srgbClr val="F6F4E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53100" y="299085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🧠 认知对照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53100" y="3219450"/>
            <a:ext cx="277863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专业知识载入——读了「CBT 手册」就会做 CBT。</a:t>
            </a:r>
            <a:endParaRPr lang="en-US" sz="938" dirty="0"/>
          </a:p>
        </p:txBody>
      </p:sp>
      <p:sp>
        <p:nvSpPr>
          <p:cNvPr id="17" name="Text 15"/>
          <p:cNvSpPr/>
          <p:nvPr/>
        </p:nvSpPr>
        <p:spPr>
          <a:xfrm>
            <a:off x="533400" y="411480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思考题:只换 skill 文件、代码一行不改,这个 agent 还能变成什么专家?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0_agent_basic · 从零打造一个 AI 智能体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S6 · 领域 AGENT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决定它是谁的,不是代码,是技能文件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49149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1847850"/>
            <a:ext cx="456628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关键代码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209550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prompt = open("agent.md").read() \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742950" y="2295525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 open("skill_tutor.md").read()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742950" y="2609850"/>
            <a:ext cx="4457700" cy="48756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代码和 s5 一字不差,只换加载的 skill 文件</a:t>
            </a:r>
            <a:endParaRPr lang="en-US" sz="1013" dirty="0"/>
          </a:p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skill_tutor = 课程导师,skill_feedback = 作文老师——同一份代码,判若两人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5600700" y="1695450"/>
            <a:ext cx="3009900" cy="104775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53100" y="182880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🔗 产品对照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53100" y="205740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你收藏的不同 GPTs:底层同一个模型,区别只在那份说明。</a:t>
            </a:r>
            <a:endParaRPr lang="en-US" sz="938" dirty="0"/>
          </a:p>
        </p:txBody>
      </p:sp>
      <p:sp>
        <p:nvSpPr>
          <p:cNvPr id="14" name="Text 12"/>
          <p:cNvSpPr/>
          <p:nvPr/>
        </p:nvSpPr>
        <p:spPr>
          <a:xfrm>
            <a:off x="5600700" y="2857500"/>
            <a:ext cx="3009900" cy="1047750"/>
          </a:xfrm>
          <a:prstGeom prst="rect">
            <a:avLst/>
          </a:prstGeom>
          <a:solidFill>
            <a:srgbClr val="F6F4E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53100" y="299085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🧠 认知对照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53100" y="321945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换个角色/人设——穿老师的衣服是老师,穿教练的衣服是教练。</a:t>
            </a:r>
            <a:endParaRPr lang="en-US" sz="938" dirty="0"/>
          </a:p>
        </p:txBody>
      </p:sp>
      <p:sp>
        <p:nvSpPr>
          <p:cNvPr id="17" name="Text 15"/>
          <p:cNvSpPr/>
          <p:nvPr/>
        </p:nvSpPr>
        <p:spPr>
          <a:xfrm>
            <a:off x="533400" y="411480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思考题:s5 和 s6 代码几乎一样,为什么还分成两个文件讲?它想让你记住什么?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0_agent_basic · 从零打造一个 AI 智能体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S7 · 多技能协同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倾听 + CBT,融进同一次回应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49149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1847850"/>
            <a:ext cx="456628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关键代码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209550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skills = ["skill_listen.md", "skill_cbt.md"]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742950" y="2295525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prompt = open("agent.md").read() \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742950" y="249555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 "".join(open(s).read() for s in skills)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742950" y="2809875"/>
            <a:ext cx="4457700" cy="69324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读心情日记:先温暖倾听「写出来已经很勇敢」,再温和引导「我天生就笨」这种以偏概全</a:t>
            </a:r>
            <a:endParaRPr lang="en-US" sz="1013" dirty="0"/>
          </a:p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单技能做不到这种融合——只比 s5 多一行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600700" y="1695450"/>
            <a:ext cx="3009900" cy="104775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53100" y="182880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🔗 产品对照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53100" y="2057400"/>
            <a:ext cx="277863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复合 GPT / 工作流:多个技能组合成一种能力。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5600700" y="2857500"/>
            <a:ext cx="3009900" cy="1047750"/>
          </a:xfrm>
          <a:prstGeom prst="rect">
            <a:avLst/>
          </a:prstGeom>
          <a:solidFill>
            <a:srgbClr val="F6F4E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53100" y="299085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🧠 认知对照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53100" y="3219450"/>
            <a:ext cx="277863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成熟咨询师既会倾听,又会在合适时机做认知引导。</a:t>
            </a:r>
            <a:endParaRPr lang="en-US" sz="938" dirty="0"/>
          </a:p>
        </p:txBody>
      </p:sp>
      <p:sp>
        <p:nvSpPr>
          <p:cNvPr id="18" name="Text 16"/>
          <p:cNvSpPr/>
          <p:nvPr/>
        </p:nvSpPr>
        <p:spPr>
          <a:xfrm>
            <a:off x="533400" y="411480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思考题:s7 只多一行。「给 agent 加能力」,难在写代码,还是难在写好技能?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0_agent_basic · 从零打造一个 AI 智能体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819150"/>
            <a:ext cx="8238744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8F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核心公式 · THE FORMULA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3400" y="120015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447800"/>
            <a:ext cx="823874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= LLM + 循环 + 记忆 + 工具 + 技能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33400" y="2190750"/>
            <a:ext cx="1504950" cy="876300"/>
          </a:xfrm>
          <a:prstGeom prst="rect">
            <a:avLst/>
          </a:prstGeom>
          <a:solidFill>
            <a:srgbClr val="24466B"/>
          </a:solidFill>
          <a:ln w="9525">
            <a:solidFill>
              <a:srgbClr val="3A5B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8351" y="2362200"/>
            <a:ext cx="1535049" cy="2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18351" y="2705100"/>
            <a:ext cx="1535049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8F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s0 · 会说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71700" y="2190750"/>
            <a:ext cx="1504950" cy="876300"/>
          </a:xfrm>
          <a:prstGeom prst="rect">
            <a:avLst/>
          </a:prstGeom>
          <a:solidFill>
            <a:srgbClr val="24466B"/>
          </a:solidFill>
          <a:ln w="9525">
            <a:solidFill>
              <a:srgbClr val="3A5B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56651" y="2362200"/>
            <a:ext cx="1535049" cy="2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循环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156651" y="2705100"/>
            <a:ext cx="1535049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8F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 · 会连续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0" y="2190750"/>
            <a:ext cx="1504950" cy="876300"/>
          </a:xfrm>
          <a:prstGeom prst="rect">
            <a:avLst/>
          </a:prstGeom>
          <a:solidFill>
            <a:srgbClr val="24466B"/>
          </a:solidFill>
          <a:ln w="9525">
            <a:solidFill>
              <a:srgbClr val="3A5B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94951" y="2362200"/>
            <a:ext cx="1535049" cy="2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794951" y="2705100"/>
            <a:ext cx="1535049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8F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s2 · 记得住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48300" y="2190750"/>
            <a:ext cx="1504950" cy="876300"/>
          </a:xfrm>
          <a:prstGeom prst="rect">
            <a:avLst/>
          </a:prstGeom>
          <a:solidFill>
            <a:srgbClr val="24466B"/>
          </a:solidFill>
          <a:ln w="9525">
            <a:solidFill>
              <a:srgbClr val="3A5B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33251" y="2362200"/>
            <a:ext cx="1535049" cy="2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433251" y="2705100"/>
            <a:ext cx="1535049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8F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s3 · 会动手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86600" y="2190750"/>
            <a:ext cx="1504950" cy="876300"/>
          </a:xfrm>
          <a:prstGeom prst="rect">
            <a:avLst/>
          </a:prstGeom>
          <a:solidFill>
            <a:srgbClr val="24466B"/>
          </a:solidFill>
          <a:ln w="9525">
            <a:solidFill>
              <a:srgbClr val="3A5B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71551" y="2362200"/>
            <a:ext cx="1535049" cy="2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技能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071551" y="2705100"/>
            <a:ext cx="1535049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8F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s5–s7 · 懂专业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3400" y="3505200"/>
            <a:ext cx="82387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C6D6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 = LLM + 循环 + 工具调用(s3)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33400" y="3771900"/>
            <a:ext cx="82387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C6D6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领域 Agent = Agent + Skill(s5 · s6)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533400" y="4038600"/>
            <a:ext cx="82387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C6D6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多能 Agent = Agent + [Skill, Skill…](s7)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33400" y="45529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FB0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带走这三行——你造的每一个 agent,都是这条公式的一次展开。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练习靶子 · DEMO_WORKSPACE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机制的价值,只有在真实场景里才看得出来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8669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作文批改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两篇学生作文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「给小明的作文写评语」——技能让评语从泛泛变专业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8669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心情日记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一位初三学生的困扰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「有点撑不住」——倾听 + CBT 的组合在这里显出价值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8669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待办清单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助教的真实活儿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「把作文按主题分类」——agent 自己规划、动手完成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84810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一个模拟「心理/教育助教工作台」的沙盒:每个阶段的复杂例子和作业都在它上面跑——简单任务用不上,真实工作离不开。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0_agent_basic · 从零打造一个 AI 智能体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作业 1 · HOMEWORK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费曼自测 + 扩展三选一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3924300" cy="2209800"/>
          </a:xfrm>
          <a:prstGeom prst="rect">
            <a:avLst/>
          </a:prstGeom>
          <a:solidFill>
            <a:srgbClr val="EAF0F6"/>
          </a:solidFill>
          <a:ln w="9525">
            <a:solidFill>
              <a:srgbClr val="1A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" y="1866900"/>
            <a:ext cx="34975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· 费曼重写 s2(必做)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723900" y="2190750"/>
            <a:ext cx="3505200" cy="79429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盖住原文,凭理解默写 s2_memory.py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跑通「我叫小明 → 我叫什么」记忆测试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卡住的那一行,就是你其实还没真懂的地方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86300" y="1695450"/>
            <a:ext cx="39243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6800" y="1866900"/>
            <a:ext cx="34975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· 三选一(必做)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876800" y="2190750"/>
            <a:ext cx="3505200" cy="79429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写你自己的作文反馈技能(苏格拉底式/结构诊断式…)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打磨 s7 的倾听 + CBT 组合,回应心情日记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给 s3 布置任务:作文按主题分类,生成 分类.md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3400" y="40767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Capstone 加分:让你的 agent 当一次完整的「老师」——一篇作文一份评语,再答:它像不像真老师,差在哪?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0_agent_basic · 从零打造一个 AI 智能体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教练 · COACH SKILLS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两个教练带着走:陪跑,不代写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8669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/AGENT-TUTOR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概念陪跑 · 费曼式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一个阶段一个阶段问你「讲给我听」——讲不出的地方,就是没真懂的地方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8669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/AGENT-HW1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作业陪跑 · 三级提示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概念级 → 操作级 → 兜底级,一层层翻;只指路,绝不替你写答案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8669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三条路径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可混用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网页版 web/index.html 可视化 · 教程 + 逐个跑代码 · 让教练带着走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84810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问概念、问报错、问怎么写某个小功能——都行;让 AI 把整道题的答案写给你——不行。你交的每一行,都要能自己解释。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0_agent_basic · 从零打造一个 AI 智能体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 · I2I ACADEMY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浏览器里零安装,跑完 s0 → s7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181100"/>
            <a:ext cx="8238744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课程原版 .py 逐字节不改,在浏览器里就能跑通完整 agent 循环——没配好本地环境,也不耽误学。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400" y="1866900"/>
            <a:ext cx="2571750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1866900"/>
            <a:ext cx="38100" cy="17716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20383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零安装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85800" y="222885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Pyodide 直接跑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49555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编辑器 + 终端 + stdin 输入框,input() 与 chat.send() 原样工作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276600" y="1866900"/>
            <a:ext cx="2571750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76600" y="1866900"/>
            <a:ext cx="38100" cy="177165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29000" y="20383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判题门禁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429000" y="222885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过了才解锁下一关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49555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每个阶段自动判题,亲手跑通才算学会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019800" y="1866900"/>
            <a:ext cx="2571750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19800" y="1866900"/>
            <a:ext cx="38100" cy="17716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72200" y="20383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MOCK / REAL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172200" y="222885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双模式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49555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mock 按脚本回复、零 token 自动判题;real 连真模型实战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38100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平台内容直读课程仓库构建(hash 锁),与你手里的代码永不漂移。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0_agent_basic · 从零打造一个 AI 智能体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8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红线 · SAFETY &amp; INTEGRITY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能力越大,越要先立规矩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1885950" cy="1981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9812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1671066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安全提示词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1671066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agent_safe.md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24100"/>
            <a:ext cx="1671066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识别自伤/自杀意念 → 立即给心理援助热线,不做诊断、不开处方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2590800" y="1695450"/>
            <a:ext cx="1885950" cy="1981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90800" y="1695450"/>
            <a:ext cx="38100" cy="19812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43200" y="1866900"/>
            <a:ext cx="1671066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密钥安全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743200" y="2057400"/>
            <a:ext cx="1671066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.env 绝不提交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2324100"/>
            <a:ext cx="167106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 key 只放 .env,.gitignore 挡住它——一次泄漏,全网可用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4648200" y="1695450"/>
            <a:ext cx="1885950" cy="1981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48200" y="1695450"/>
            <a:ext cx="38100" cy="1981200"/>
          </a:xfrm>
          <a:prstGeom prst="rect">
            <a:avLst/>
          </a:prstGeom>
          <a:solidFill>
            <a:srgbClr val="B0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00600" y="1866900"/>
            <a:ext cx="1671066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B03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心理红线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800600" y="2057400"/>
            <a:ext cx="1671066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危机转介真人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324100"/>
            <a:ext cx="1671066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极端情绪 → 建议求助老师/热线;AI 是教学演示,不是专业心理服务</a:t>
            </a:r>
            <a:endParaRPr lang="en-US" sz="938" dirty="0"/>
          </a:p>
        </p:txBody>
      </p:sp>
      <p:sp>
        <p:nvSpPr>
          <p:cNvPr id="20" name="Text 18"/>
          <p:cNvSpPr/>
          <p:nvPr/>
        </p:nvSpPr>
        <p:spPr>
          <a:xfrm>
            <a:off x="6705600" y="1695450"/>
            <a:ext cx="1885950" cy="1981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05600" y="1695450"/>
            <a:ext cx="38100" cy="19812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58000" y="1866900"/>
            <a:ext cx="1671066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学术诚信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858000" y="2057400"/>
            <a:ext cx="1671066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代码自己敲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2324100"/>
            <a:ext cx="167106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问概念可以,AI 代写整题不行;每一行你都要能对助教讲清</a:t>
            </a:r>
            <a:endParaRPr lang="en-US" sz="938" dirty="0"/>
          </a:p>
        </p:txBody>
      </p:sp>
      <p:sp>
        <p:nvSpPr>
          <p:cNvPr id="25" name="Text 23"/>
          <p:cNvSpPr/>
          <p:nvPr/>
        </p:nvSpPr>
        <p:spPr>
          <a:xfrm>
            <a:off x="533400" y="39624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在心理与教育场景,这些不是「附加项」——是从第一行代码就要守住的底线。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0_agent_basic · 从零打造一个 AI 智能体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8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模块地图 · WHERE NEXT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造行为 → 造框架 → 定义 → 上线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1914525" cy="1428750"/>
          </a:xfrm>
          <a:prstGeom prst="rect">
            <a:avLst/>
          </a:prstGeom>
          <a:solidFill>
            <a:srgbClr val="FBF1EC"/>
          </a:solidFill>
          <a:ln w="19050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1828800"/>
            <a:ext cx="1719644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66750" y="2190750"/>
            <a:ext cx="17196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造行为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66750" y="2438400"/>
            <a:ext cx="1700213" cy="317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0_agent_basic:s0–s7,亲手造出会干活的 agent</a:t>
            </a:r>
            <a:endParaRPr lang="en-US" sz="863" dirty="0"/>
          </a:p>
        </p:txBody>
      </p:sp>
      <p:sp>
        <p:nvSpPr>
          <p:cNvPr id="9" name="Text 7"/>
          <p:cNvSpPr/>
          <p:nvPr/>
        </p:nvSpPr>
        <p:spPr>
          <a:xfrm>
            <a:off x="2419350" y="2247900"/>
            <a:ext cx="174879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81275" y="1695450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14625" y="1828800"/>
            <a:ext cx="1719644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714625" y="2190750"/>
            <a:ext cx="17196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造框架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2714625" y="2438400"/>
            <a:ext cx="1700213" cy="317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1_claude_code_basic:c0–c5,复现 mini Claude Code</a:t>
            </a:r>
            <a:endParaRPr lang="en-US" sz="863" dirty="0"/>
          </a:p>
        </p:txBody>
      </p:sp>
      <p:sp>
        <p:nvSpPr>
          <p:cNvPr id="14" name="Text 12"/>
          <p:cNvSpPr/>
          <p:nvPr/>
        </p:nvSpPr>
        <p:spPr>
          <a:xfrm>
            <a:off x="4467225" y="2247900"/>
            <a:ext cx="174879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29150" y="1695450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2500" y="1828800"/>
            <a:ext cx="1719644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4762500" y="2190750"/>
            <a:ext cx="17196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定义与评估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4762500" y="2438400"/>
            <a:ext cx="1700213" cy="317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DEFINE 双支柱:想清楚造什么、凭什么说它行</a:t>
            </a:r>
            <a:endParaRPr lang="en-US" sz="863" dirty="0"/>
          </a:p>
        </p:txBody>
      </p:sp>
      <p:sp>
        <p:nvSpPr>
          <p:cNvPr id="19" name="Text 17"/>
          <p:cNvSpPr/>
          <p:nvPr/>
        </p:nvSpPr>
        <p:spPr>
          <a:xfrm>
            <a:off x="6515100" y="2247900"/>
            <a:ext cx="174879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77025" y="1695450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10375" y="1828800"/>
            <a:ext cx="1719644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810375" y="2190750"/>
            <a:ext cx="17196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上线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6810375" y="2438400"/>
            <a:ext cx="1700213" cy="317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 &amp; Ship:前后端连通,部署上公网</a:t>
            </a:r>
            <a:endParaRPr lang="en-US" sz="863" dirty="0"/>
          </a:p>
        </p:txBody>
      </p:sp>
      <p:sp>
        <p:nvSpPr>
          <p:cNvPr id="24" name="Text 22"/>
          <p:cNvSpPr/>
          <p:nvPr/>
        </p:nvSpPr>
        <p:spPr>
          <a:xfrm>
            <a:off x="533400" y="33909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本模块给你「造行为」的手;下一步,把这双手升级成一整套工业级框架。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0_agent_basic · 从零打造一个 AI 智能体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2382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带走一句话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33400" y="158115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866900"/>
            <a:ext cx="785012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「造得出来,才算真懂。」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3400" y="2552700"/>
            <a:ext cx="7850124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八段代码,每段几行——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33400" y="2952750"/>
            <a:ext cx="7850124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但你亲手造出了一个会干活的智能体。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33400" y="3733800"/>
            <a:ext cx="82387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下一站:把它长成你自己的 mini Claude Code。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郑先隽 · 北京师范大学心理学部 · 人本 AI 设计与创新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2026-07-21T00:10:42Z</dcterms:created>
  <dcterms:modified xsi:type="dcterms:W3CDTF">2026-07-21T00:10:42Z</dcterms:modified>
</cp:coreProperties>
</file>